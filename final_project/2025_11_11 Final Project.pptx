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4" r:id="rId5"/>
    <p:sldId id="259" r:id="rId6"/>
    <p:sldId id="260" r:id="rId7"/>
    <p:sldId id="265" r:id="rId8"/>
    <p:sldId id="261" r:id="rId9"/>
    <p:sldId id="262" r:id="rId10"/>
    <p:sldId id="263" r:id="rId11"/>
  </p:sldIdLst>
  <p:sldSz cx="9144000" cy="5143500" type="screen16x9"/>
  <p:notesSz cx="6858000" cy="9144000"/>
  <p:embeddedFontLst>
    <p:embeddedFont>
      <p:font typeface="Lato" panose="020F0502020204030203" pitchFamily="34" charset="0"/>
      <p:regular r:id="rId13"/>
      <p:bold r:id="rId14"/>
      <p:italic r:id="rId15"/>
      <p:boldItalic r:id="rId16"/>
    </p:embeddedFont>
    <p:embeddedFont>
      <p:font typeface="Raleway" panose="020B0604020202020204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iAWSM3yy1O2f5NKu992XhKRUp5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54CFDD3-55F5-423F-8B14-7D255C1A1908}">
  <a:tblStyle styleId="{554CFDD3-55F5-423F-8B14-7D255C1A190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74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>
          <a:extLst>
            <a:ext uri="{FF2B5EF4-FFF2-40B4-BE49-F238E27FC236}">
              <a16:creationId xmlns:a16="http://schemas.microsoft.com/office/drawing/2014/main" id="{C28D81B0-AA6A-8FC4-73EF-41CB3F400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>
            <a:extLst>
              <a:ext uri="{FF2B5EF4-FFF2-40B4-BE49-F238E27FC236}">
                <a16:creationId xmlns:a16="http://schemas.microsoft.com/office/drawing/2014/main" id="{EE02A481-19AF-F56C-88E3-23DF42F524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6:notes">
            <a:extLst>
              <a:ext uri="{FF2B5EF4-FFF2-40B4-BE49-F238E27FC236}">
                <a16:creationId xmlns:a16="http://schemas.microsoft.com/office/drawing/2014/main" id="{90371E90-6C1B-4892-4104-E484A1A1C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00981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1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1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1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1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" name="Google Shape;20;p1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12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1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7" name="Google Shape;27;p1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" name="Google Shape;29;p1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" name="Google Shape;33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" name="Google Shape;36;p1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1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" name="Google Shape;42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" name="Google Shape;45;p1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1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1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1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1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1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" name="Google Shape;63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1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1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2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" name="Google Shape;77;p2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2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zh-TW"/>
              <a:t>Announcement of </a:t>
            </a:r>
            <a:br>
              <a:rPr lang="zh-TW"/>
            </a:br>
            <a:r>
              <a:rPr lang="zh-TW"/>
              <a:t>Final Project</a:t>
            </a:r>
            <a:endParaRPr/>
          </a:p>
        </p:txBody>
      </p:sp>
      <p:sp>
        <p:nvSpPr>
          <p:cNvPr id="87" name="Google Shape;87;p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zh-TW" dirty="0"/>
              <a:t>202</a:t>
            </a:r>
            <a:r>
              <a:rPr lang="en-US" altLang="zh-TW" dirty="0"/>
              <a:t>5</a:t>
            </a:r>
            <a:r>
              <a:rPr lang="zh-TW" dirty="0"/>
              <a:t>/1</a:t>
            </a:r>
            <a:r>
              <a:rPr lang="en-US" altLang="zh-TW" dirty="0"/>
              <a:t>1</a:t>
            </a:r>
            <a:r>
              <a:rPr lang="zh-TW" dirty="0"/>
              <a:t>/1</a:t>
            </a:r>
            <a:r>
              <a:rPr lang="en-US" altLang="zh-TW" dirty="0"/>
              <a:t>1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zh-TW" dirty="0"/>
              <a:t>TA </a:t>
            </a:r>
            <a:r>
              <a:rPr lang="zh-TW" altLang="en-US" dirty="0"/>
              <a:t>郭建廷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We will talk about some crucial updates regarding the final project</a:t>
            </a:r>
            <a:endParaRPr/>
          </a:p>
        </p:txBody>
      </p:sp>
      <p:sp>
        <p:nvSpPr>
          <p:cNvPr id="93" name="Google Shape;93;p2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300"/>
              <a:buNone/>
            </a:pPr>
            <a:r>
              <a:rPr lang="zh-TW"/>
              <a:t>For more information, please refer to the updated specification PDF.</a:t>
            </a:r>
            <a:endParaRPr/>
          </a:p>
        </p:txBody>
      </p:sp>
      <p:sp>
        <p:nvSpPr>
          <p:cNvPr id="94" name="Google Shape;94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altLang="zh-TW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Maps</a:t>
            </a:r>
            <a:endParaRPr/>
          </a:p>
        </p:txBody>
      </p:sp>
      <p:sp>
        <p:nvSpPr>
          <p:cNvPr id="100" name="Google Shape;100;p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zh-TW" dirty="0"/>
              <a:t>Circle_cw</a:t>
            </a:r>
            <a:endParaRPr dirty="0"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zh-TW" dirty="0"/>
              <a:t>Austria</a:t>
            </a:r>
            <a:endParaRPr lang="en-US" altLang="zh-TW" dirty="0"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-US" dirty="0"/>
              <a:t>Unknown</a:t>
            </a:r>
            <a:endParaRPr dirty="0"/>
          </a:p>
        </p:txBody>
      </p:sp>
      <p:pic>
        <p:nvPicPr>
          <p:cNvPr id="101" name="Google Shape;10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85671" y="1499350"/>
            <a:ext cx="2429325" cy="23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43723" y="1499350"/>
            <a:ext cx="3180850" cy="2826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 txBox="1"/>
          <p:nvPr/>
        </p:nvSpPr>
        <p:spPr>
          <a:xfrm>
            <a:off x="4262600" y="3842850"/>
            <a:ext cx="752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zh-TW"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25 sec</a:t>
            </a:r>
            <a:endParaRPr sz="1300" b="0" i="0" u="none" strike="noStrike" cap="non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7772175" y="4326325"/>
            <a:ext cx="752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zh-TW"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100 sec</a:t>
            </a:r>
            <a:endParaRPr sz="1300" b="0" i="0" u="none" strike="noStrike" cap="non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" name="Google Shape;105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altLang="zh-TW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The Randomness Environment during the Demo</a:t>
            </a:r>
            <a:endParaRPr/>
          </a:p>
        </p:txBody>
      </p:sp>
      <p:sp>
        <p:nvSpPr>
          <p:cNvPr id="150" name="Google Shape;150;p9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zh-TW"/>
              <a:t>We may introduce some randomness, such as:</a:t>
            </a:r>
            <a:endParaRPr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zh-TW"/>
              <a:t>Adding a bit of noise to your action</a:t>
            </a:r>
            <a:endParaRPr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zh-TW"/>
              <a:t>Randomizing the starting point</a:t>
            </a:r>
            <a:endParaRPr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zh-TW"/>
              <a:t>Therefore, please ensure to train a stable model!</a:t>
            </a:r>
            <a:endParaRPr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zh-TW"/>
              <a:t>The randomness used may vary on different demo days</a:t>
            </a:r>
            <a:endParaRPr/>
          </a:p>
        </p:txBody>
      </p:sp>
      <p:sp>
        <p:nvSpPr>
          <p:cNvPr id="151" name="Google Shape;151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altLang="zh-TW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Scoring Criteria</a:t>
            </a:r>
            <a:endParaRPr/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zh-TW" dirty="0"/>
              <a:t>Your total project score = report * 0.</a:t>
            </a:r>
            <a:r>
              <a:rPr lang="en-US" altLang="zh-TW" dirty="0"/>
              <a:t>2</a:t>
            </a:r>
            <a:r>
              <a:rPr lang="zh-TW" dirty="0"/>
              <a:t> + demo performance * 0.</a:t>
            </a:r>
            <a:r>
              <a:rPr lang="en-US" altLang="zh-TW" dirty="0"/>
              <a:t>8</a:t>
            </a:r>
            <a:endParaRPr dirty="0"/>
          </a:p>
        </p:txBody>
      </p:sp>
      <p:sp>
        <p:nvSpPr>
          <p:cNvPr id="112" name="Google Shape;112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altLang="zh-TW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/>
              <a:t>Scoring Criteria</a:t>
            </a:r>
            <a:endParaRPr/>
          </a:p>
        </p:txBody>
      </p:sp>
      <p:pic>
        <p:nvPicPr>
          <p:cNvPr id="118" name="Google Shape;118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87849" y="2018675"/>
            <a:ext cx="1399514" cy="1350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41973" y="2018675"/>
            <a:ext cx="1519058" cy="13500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0" name="Google Shape;120;p5"/>
          <p:cNvGraphicFramePr/>
          <p:nvPr>
            <p:extLst>
              <p:ext uri="{D42A27DB-BD31-4B8C-83A1-F6EECF244321}">
                <p14:modId xmlns:p14="http://schemas.microsoft.com/office/powerpoint/2010/main" val="1919019862"/>
              </p:ext>
            </p:extLst>
          </p:nvPr>
        </p:nvGraphicFramePr>
        <p:xfrm>
          <a:off x="701250" y="3461475"/>
          <a:ext cx="7677975" cy="1584840"/>
        </p:xfrm>
        <a:graphic>
          <a:graphicData uri="http://schemas.openxmlformats.org/drawingml/2006/table">
            <a:tbl>
              <a:tblPr>
                <a:noFill/>
                <a:tableStyleId>{554CFDD3-55F5-423F-8B14-7D255C1A1908}</a:tableStyleId>
              </a:tblPr>
              <a:tblGrid>
                <a:gridCol w="161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3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/>
                        <a:t>Circle_cw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 dirty="0"/>
                        <a:t>Austria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altLang="zh-TW" sz="1400" u="none" strike="noStrike" cap="none" dirty="0"/>
                        <a:t>Threshold</a:t>
                      </a:r>
                      <a:r>
                        <a:rPr lang="zh-TW" sz="1400" u="none" strike="noStrike" cap="none" dirty="0"/>
                        <a:t> 1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altLang="zh-TW" dirty="0"/>
                        <a:t>2</a:t>
                      </a:r>
                      <a:r>
                        <a:rPr lang="zh-TW" sz="1400" u="none" strike="noStrike" cap="none" dirty="0"/>
                        <a:t>0% (finish a lap)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 dirty="0"/>
                        <a:t>15% (finish first curve without collision)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altLang="zh-TW" sz="1400" u="none" strike="noStrike" cap="none" dirty="0"/>
                        <a:t>Threshold</a:t>
                      </a:r>
                      <a:r>
                        <a:rPr lang="zh-TW" sz="1400" u="none" strike="noStrike" cap="none" dirty="0"/>
                        <a:t> 2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 dirty="0"/>
                        <a:t>-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 dirty="0"/>
                        <a:t>5% (finish second curve without collision)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zh-TW" sz="1400" u="none" strike="noStrike" cap="none" dirty="0"/>
                        <a:t>Ranking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altLang="zh-TW" sz="1400" u="none" strike="noStrike" cap="none" dirty="0"/>
                        <a:t>2</a:t>
                      </a:r>
                      <a:r>
                        <a:rPr lang="zh-TW" sz="1400" u="none" strike="noStrike" cap="none" dirty="0"/>
                        <a:t>0%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altLang="zh-TW" sz="1400" u="none" strike="noStrike" cap="none" dirty="0"/>
                        <a:t>2</a:t>
                      </a:r>
                      <a:r>
                        <a:rPr lang="zh-TW" sz="1400" u="none" strike="noStrike" cap="none" dirty="0"/>
                        <a:t>0%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1" name="Google Shape;121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altLang="zh-TW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>
          <a:extLst>
            <a:ext uri="{FF2B5EF4-FFF2-40B4-BE49-F238E27FC236}">
              <a16:creationId xmlns:a16="http://schemas.microsoft.com/office/drawing/2014/main" id="{96ADA690-55FA-A2BE-19C0-E4186F058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>
            <a:extLst>
              <a:ext uri="{FF2B5EF4-FFF2-40B4-BE49-F238E27FC236}">
                <a16:creationId xmlns:a16="http://schemas.microsoft.com/office/drawing/2014/main" id="{25D6A0C8-CD4C-DAD9-954B-80B708F5C7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 dirty="0"/>
              <a:t>Scoring Criteria</a:t>
            </a:r>
            <a:r>
              <a:rPr lang="zh-TW" altLang="en-US" dirty="0"/>
              <a:t> </a:t>
            </a:r>
            <a:r>
              <a:rPr lang="en-US" altLang="zh-TW" dirty="0"/>
              <a:t>(Unknown)</a:t>
            </a:r>
            <a:endParaRPr dirty="0"/>
          </a:p>
        </p:txBody>
      </p:sp>
      <p:sp>
        <p:nvSpPr>
          <p:cNvPr id="129" name="Google Shape;129;p6">
            <a:extLst>
              <a:ext uri="{FF2B5EF4-FFF2-40B4-BE49-F238E27FC236}">
                <a16:creationId xmlns:a16="http://schemas.microsoft.com/office/drawing/2014/main" id="{41C63793-3063-F0E0-B1D4-29F5AD0C3DE5}"/>
              </a:ext>
            </a:extLst>
          </p:cNvPr>
          <p:cNvSpPr txBox="1"/>
          <p:nvPr/>
        </p:nvSpPr>
        <p:spPr>
          <a:xfrm>
            <a:off x="1641625" y="3672500"/>
            <a:ext cx="6408300" cy="984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altLang="zh-TW" sz="1300" b="0" i="0" u="none" strike="noStrike" cap="none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Unknown map</a:t>
            </a:r>
            <a:r>
              <a:rPr lang="zh-TW" sz="1300" b="0" i="0" u="none" strike="noStrike" cap="none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300" b="0" i="0" u="none" strike="noStrike" cap="none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-US" sz="1300" b="0" i="0" u="none" strike="noStrike" cap="none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You can use any of your models to evaluate on this map, the map is not released (it may be larger noise or new map).</a:t>
            </a: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en-US" sz="1300" b="0" i="0" u="none" strike="noStrike" cap="none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Ranking: </a:t>
            </a:r>
            <a:r>
              <a:rPr lang="en-US" sz="1300" b="1" i="0" u="none" strike="noStrike" cap="none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20%</a:t>
            </a:r>
            <a:r>
              <a:rPr lang="en-US" sz="1300" b="0" i="0" u="none" strike="noStrike" cap="none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of the demo score.</a:t>
            </a:r>
          </a:p>
        </p:txBody>
      </p:sp>
      <p:sp>
        <p:nvSpPr>
          <p:cNvPr id="130" name="Google Shape;130;p6">
            <a:extLst>
              <a:ext uri="{FF2B5EF4-FFF2-40B4-BE49-F238E27FC236}">
                <a16:creationId xmlns:a16="http://schemas.microsoft.com/office/drawing/2014/main" id="{F14C55E0-FD24-C1E7-3738-1086AF47F22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altLang="zh-TW"/>
              <a:t>7</a:t>
            </a:fld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31C7B8E-32D8-94AE-39B3-A2338B96C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00718">
            <a:off x="3849694" y="1980481"/>
            <a:ext cx="1444612" cy="1444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86389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TW" dirty="0"/>
              <a:t>Scoring Criteria</a:t>
            </a:r>
            <a:r>
              <a:rPr lang="en-US" altLang="zh-TW" dirty="0"/>
              <a:t> (bonus)</a:t>
            </a:r>
            <a:endParaRPr dirty="0"/>
          </a:p>
        </p:txBody>
      </p:sp>
      <p:pic>
        <p:nvPicPr>
          <p:cNvPr id="127" name="Google Shape;12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87849" y="2018675"/>
            <a:ext cx="1399514" cy="1350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41973" y="2018675"/>
            <a:ext cx="1519058" cy="135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6"/>
          <p:cNvSpPr txBox="1"/>
          <p:nvPr/>
        </p:nvSpPr>
        <p:spPr>
          <a:xfrm>
            <a:off x="1641625" y="3672500"/>
            <a:ext cx="64083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zh-TW" sz="1300" b="0" i="0" u="none" strike="noStrike" cap="none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Bonus:</a:t>
            </a:r>
            <a:endParaRPr sz="1300" b="0" i="0" u="none" strike="noStrike" cap="none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</a:pPr>
            <a:r>
              <a:rPr lang="zh-TW" sz="1300" b="0" i="0" u="none" strike="noStrike" cap="none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If you use </a:t>
            </a:r>
            <a:r>
              <a:rPr lang="zh-TW" sz="1300" b="1" i="0" u="none" strike="noStrike" cap="none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the same model </a:t>
            </a:r>
            <a:r>
              <a:rPr lang="zh-TW" sz="1300" b="0" i="0" u="none" strike="noStrike" cap="none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to evaluate both maps and you pass both the </a:t>
            </a:r>
            <a:r>
              <a:rPr lang="zh-TW" sz="1300" b="0" i="0" u="sng" strike="noStrike" cap="none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Circle_cw </a:t>
            </a:r>
            <a:r>
              <a:rPr lang="en-US" altLang="zh-TW" sz="1300" b="0" i="0" u="sng" strike="noStrike" cap="none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baseline</a:t>
            </a:r>
            <a:r>
              <a:rPr lang="zh-TW" sz="1300" b="0" i="0" u="sng" strike="noStrike" cap="none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and Austria </a:t>
            </a:r>
            <a:r>
              <a:rPr lang="en-US" altLang="zh-TW" sz="1300" b="0" i="0" u="sng" strike="noStrike" cap="none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baseline</a:t>
            </a:r>
            <a:r>
              <a:rPr lang="zh-TW" sz="1300" b="0" i="0" u="sng" strike="noStrike" cap="none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1/2</a:t>
            </a:r>
            <a:r>
              <a:rPr lang="zh-TW" sz="1300" b="0" i="0" u="none" strike="noStrike" cap="none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zh-TW" sz="1300" b="1" i="0" u="none" strike="noStrike" cap="none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+5%</a:t>
            </a:r>
            <a:r>
              <a:rPr lang="zh-TW" sz="1300" b="0" i="0" u="none" strike="noStrike" cap="none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of the demo score</a:t>
            </a:r>
            <a:r>
              <a:rPr lang="en-US" altLang="zh-TW" sz="1300" b="0" i="0" u="none" strike="noStrike" cap="none" dirty="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(up to 100)</a:t>
            </a:r>
            <a:endParaRPr sz="1300" b="0" i="0" u="none" strike="noStrike" cap="none" dirty="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" name="Google Shape;130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altLang="zh-TW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25400" marR="2540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ct val="111111"/>
              <a:buNone/>
            </a:pPr>
            <a:r>
              <a:rPr lang="zh-TW" dirty="0"/>
              <a:t>Important Announcement regarding the Demo</a:t>
            </a:r>
            <a:endParaRPr dirty="0"/>
          </a:p>
          <a:p>
            <a:pPr marL="25400" marR="2540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ct val="111111"/>
              <a:buNone/>
            </a:pPr>
            <a:endParaRPr dirty="0"/>
          </a:p>
          <a:p>
            <a:pPr marL="25400" marR="2540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ct val="111111"/>
              <a:buNone/>
            </a:pPr>
            <a:endParaRPr dirty="0"/>
          </a:p>
        </p:txBody>
      </p:sp>
      <p:sp>
        <p:nvSpPr>
          <p:cNvPr id="136" name="Google Shape;136;p7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zh-TW" dirty="0"/>
              <a:t>You NEED to DEMO to get performance grades</a:t>
            </a:r>
            <a:endParaRPr dirty="0"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zh-TW" dirty="0"/>
              <a:t>Different maps can be tested with different models</a:t>
            </a:r>
            <a:endParaRPr dirty="0"/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zh-TW" dirty="0">
                <a:solidFill>
                  <a:srgbClr val="FF0000"/>
                </a:solidFill>
              </a:rPr>
              <a:t>Pre-recorded action sequences are prohibited during the demonstration</a:t>
            </a:r>
            <a:endParaRPr dirty="0">
              <a:solidFill>
                <a:srgbClr val="FF0000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zh-TW" dirty="0"/>
              <a:t>You have several chances to demo, and the highest score will be chosen in the end. (including the bonus)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endParaRPr dirty="0"/>
          </a:p>
        </p:txBody>
      </p:sp>
      <p:sp>
        <p:nvSpPr>
          <p:cNvPr id="137" name="Google Shape;137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altLang="zh-TW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25400" marR="2540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ct val="111111"/>
              <a:buNone/>
            </a:pPr>
            <a:r>
              <a:rPr lang="zh-TW"/>
              <a:t>Important Announcement regarding the Report</a:t>
            </a:r>
            <a:endParaRPr/>
          </a:p>
          <a:p>
            <a:pPr marL="25400" marR="2540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ct val="111111"/>
              <a:buNone/>
            </a:pPr>
            <a:endParaRPr/>
          </a:p>
          <a:p>
            <a:pPr marL="25400" marR="2540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43" name="Google Shape;143;p8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zh-TW"/>
              <a:t>We mainly score based on the effort and learning people put into "</a:t>
            </a:r>
            <a:r>
              <a:rPr lang="zh-TW" b="1">
                <a:solidFill>
                  <a:srgbClr val="0000FF"/>
                </a:solidFill>
              </a:rPr>
              <a:t>Reinforcement Learning</a:t>
            </a:r>
            <a:r>
              <a:rPr lang="zh-TW"/>
              <a:t>" and "</a:t>
            </a:r>
            <a:r>
              <a:rPr lang="zh-TW" b="1">
                <a:solidFill>
                  <a:srgbClr val="0000FF"/>
                </a:solidFill>
              </a:rPr>
              <a:t>Neural Network Training</a:t>
            </a:r>
            <a:r>
              <a:rPr lang="zh-TW"/>
              <a:t>".</a:t>
            </a:r>
            <a:endParaRPr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zh-TW"/>
              <a:t>If your content </a:t>
            </a:r>
            <a:r>
              <a:rPr lang="zh-TW">
                <a:solidFill>
                  <a:srgbClr val="FF0000"/>
                </a:solidFill>
              </a:rPr>
              <a:t>DOES NOT relate to at least one</a:t>
            </a:r>
            <a:r>
              <a:rPr lang="zh-TW"/>
              <a:t> of the topics mentioned above, you will receive NO</a:t>
            </a:r>
            <a:endParaRPr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zh-TW"/>
              <a:t>score in the report part. </a:t>
            </a:r>
            <a:endParaRPr/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zh-TW"/>
              <a:t>For instance, you might craft an "if-else" program that could potentially achieve a decent score in the demo performance. However, if that is your only effort, you will receive no points in the report section.</a:t>
            </a:r>
            <a:endParaRPr/>
          </a:p>
        </p:txBody>
      </p:sp>
      <p:sp>
        <p:nvSpPr>
          <p:cNvPr id="144" name="Google Shape;144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 altLang="zh-TW"/>
              <a:t>10</a:t>
            </a:fld>
            <a:endParaRPr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397</Words>
  <Application>Microsoft Office PowerPoint</Application>
  <PresentationFormat>如螢幕大小 (16:9)</PresentationFormat>
  <Paragraphs>57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4" baseType="lpstr">
      <vt:lpstr>Arial</vt:lpstr>
      <vt:lpstr>Raleway</vt:lpstr>
      <vt:lpstr>Lato</vt:lpstr>
      <vt:lpstr>Streamline</vt:lpstr>
      <vt:lpstr>Announcement of  Final Project</vt:lpstr>
      <vt:lpstr>We will talk about some crucial updates regarding the final project</vt:lpstr>
      <vt:lpstr>Maps</vt:lpstr>
      <vt:lpstr>The Randomness Environment during the Demo</vt:lpstr>
      <vt:lpstr>Scoring Criteria</vt:lpstr>
      <vt:lpstr>Scoring Criteria</vt:lpstr>
      <vt:lpstr>Scoring Criteria (Unknown)</vt:lpstr>
      <vt:lpstr>Scoring Criteria (bonus)</vt:lpstr>
      <vt:lpstr>Important Announcement regarding the Demo  </vt:lpstr>
      <vt:lpstr>Important Announcement regarding the Report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Announcement of  Final Project</dc:title>
  <dc:creator>guojiantim</dc:creator>
  <cp:lastModifiedBy>guojiantim</cp:lastModifiedBy>
  <cp:revision>5</cp:revision>
  <dcterms:modified xsi:type="dcterms:W3CDTF">2025-11-11T09:25:20Z</dcterms:modified>
</cp:coreProperties>
</file>